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Imágenes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3E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Angry</c:v>
                  </c:pt>
                  <c:pt idx="1">
                    <c:v>Disgusted</c:v>
                  </c:pt>
                  <c:pt idx="2">
                    <c:v>Fearful</c:v>
                  </c:pt>
                  <c:pt idx="3">
                    <c:v>Happy</c:v>
                  </c:pt>
                  <c:pt idx="4">
                    <c:v>Neutral</c:v>
                  </c:pt>
                  <c:pt idx="5">
                    <c:v>Sad</c:v>
                  </c:pt>
                  <c:pt idx="6">
                    <c:v>Surprised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3995</c:v>
                </c:pt>
                <c:pt idx="1">
                  <c:v>436</c:v>
                </c:pt>
                <c:pt idx="2">
                  <c:v>4097</c:v>
                </c:pt>
                <c:pt idx="3">
                  <c:v>7215</c:v>
                </c:pt>
                <c:pt idx="4">
                  <c:v>4965</c:v>
                </c:pt>
                <c:pt idx="5">
                  <c:v>4830</c:v>
                </c:pt>
                <c:pt idx="6">
                  <c:v>3171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(AUC≈0.95)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0.35</c:v>
                  </c:pt>
                  <c:pt idx="6">
                    <c:v>0.5</c:v>
                  </c:pt>
                  <c:pt idx="7">
                    <c:v>0.7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0.6</c:v>
                </c:pt>
                <c:pt idx="2">
                  <c:v>0.78</c:v>
                </c:pt>
                <c:pt idx="3">
                  <c:v>0.88</c:v>
                </c:pt>
                <c:pt idx="4">
                  <c:v>0.93</c:v>
                </c:pt>
                <c:pt idx="5">
                  <c:v>0.96</c:v>
                </c:pt>
                <c:pt idx="6">
                  <c:v>0.97</c:v>
                </c:pt>
                <c:pt idx="7">
                  <c:v>0.98</c:v>
                </c:pt>
                <c:pt idx="8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(AUC≈0.92)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0.35</c:v>
                  </c:pt>
                  <c:pt idx="6">
                    <c:v>0.5</c:v>
                  </c:pt>
                  <c:pt idx="7">
                    <c:v>0.7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0.55</c:v>
                </c:pt>
                <c:pt idx="2">
                  <c:v>0.73</c:v>
                </c:pt>
                <c:pt idx="3">
                  <c:v>0.84</c:v>
                </c:pt>
                <c:pt idx="4">
                  <c:v>0.9</c:v>
                </c:pt>
                <c:pt idx="5">
                  <c:v>0.94</c:v>
                </c:pt>
                <c:pt idx="6">
                  <c:v>0.96</c:v>
                </c:pt>
                <c:pt idx="7">
                  <c:v>0.97</c:v>
                </c:pt>
                <c:pt idx="8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Aleatorio (AUC=0.5)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0.02</c:v>
                  </c:pt>
                  <c:pt idx="2">
                    <c:v>0.05</c:v>
                  </c:pt>
                  <c:pt idx="3">
                    <c:v>0.1</c:v>
                  </c:pt>
                  <c:pt idx="4">
                    <c:v>0.2</c:v>
                  </c:pt>
                  <c:pt idx="5">
                    <c:v>0.35</c:v>
                  </c:pt>
                  <c:pt idx="6">
                    <c:v>0.5</c:v>
                  </c:pt>
                  <c:pt idx="7">
                    <c:v>0.7</c:v>
                  </c:pt>
                  <c:pt idx="8">
                    <c:v>1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0.35</c:v>
                </c:pt>
                <c:pt idx="6">
                  <c:v>0.5</c:v>
                </c:pt>
                <c:pt idx="7">
                  <c:v>0.7</c:v>
                </c:pt>
                <c:pt idx="8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Tasa de Falsos Positivos (FPR)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Tasa de Verdaderos Positivos (TPR)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feat_12</c:v>
                  </c:pt>
                  <c:pt idx="1">
                    <c:v>feat_87</c:v>
                  </c:pt>
                  <c:pt idx="2">
                    <c:v>feat_203</c:v>
                  </c:pt>
                  <c:pt idx="3">
                    <c:v>feat_45</c:v>
                  </c:pt>
                  <c:pt idx="4">
                    <c:v>feat_156</c:v>
                  </c:pt>
                  <c:pt idx="5">
                    <c:v>feat_31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0.1</c:v>
                </c:pt>
                <c:pt idx="4">
                  <c:v>0.08</c:v>
                </c:pt>
                <c:pt idx="5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Emociones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Imágenes y Señales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Nacional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27632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43784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59936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9936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76088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08392" y="3108960"/>
            <a:ext cx="1152144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08392" y="31089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71800"/>
            <a:ext cx="8229600" cy="0"/>
          </a:xfrm>
          <a:prstGeom prst="line">
            <a:avLst/>
          </a:prstGeom>
          <a:noFill/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—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queremos resolver?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3383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no entienden cómo se siente una persona. Nosotros queremos que lo hagan mirando una foto del rostro.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3383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imágenes de caras con 7 emociones: enojo, asco, miedo, alegría, neutral, tristeza y sorpresa.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560320" cy="3383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dos tipos de modelos (Deep Learning y Machine Learning) y comparamos cuál reconoce mejor las emociones.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reales: asistentes para personas con discapacidad, sistemas de bienestar, seguridad, entretenimiento.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Dataset: FER2013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35.887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totales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emociones distintas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píxeles por imagen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28.709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entrenamiento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7955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Imágenes en escala de grises de 48×48 píxeles, organizadas en carpetas por emoción.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Kaggle — Emotion Detection FER (ananthu017). Conjunto pre-dividido en train y test.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Imágenes muy pequeñas y en blanco y negro → requiere que el modelo aprenda con poca información.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Clases — El desbalanceo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283464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Desbalanceo crítico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Disgusted: 436 imágenes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Happy: 7.215 imágenes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Ratio 16,5×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468880"/>
            <a:ext cx="283464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manejamos?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297180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por clase en la función de pérdida
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en clases minoritarias
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F1 y AUC (no solo accuracy)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— Conexión con la materia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65176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Espaciales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Gaussiano → suaviza la imagen eliminando ruido de alta frecuencia (pasa-bajos)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27432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Sobel → detecta bordes calculando el gradiente (pasa-altos)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3383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Vista en clase: Filtrado DF, Media Móvil y FIR/IIR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Espejo horizontal, rotación ±15°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27432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brillo y contraste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3383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gaussiano leve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64408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Aumenta la variedad del dataset sin nuevas imágenes reales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3840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7220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Transformamos los píxeles (0–255) a media 0 y desvío estándar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0488" y="27432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llama Z-Score y estabiliza el entrenamiento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3383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Conexión: mismo concepto que estandarizar señales antes de filtrar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 — Red Neuronal Convolucional (CNN)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886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una CNN?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389120" cy="475488"/>
          </a:xfrm>
          <a:prstGeom prst="rect">
            <a:avLst/>
          </a:prstGeom>
          <a:solidFill>
            <a:srgbClr val="E0E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entrada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(48×48 px)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984248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21408"/>
            <a:ext cx="438912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convolucionales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(detectan bordes, texturas)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2596896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34056"/>
            <a:ext cx="4389120" cy="475488"/>
          </a:xfrm>
          <a:prstGeom prst="rect">
            <a:avLst/>
          </a:prstGeom>
          <a:solidFill>
            <a:srgbClr val="BAE6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340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convolucionales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(detectan partes del rostro)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3209544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46704"/>
            <a:ext cx="4389120" cy="475488"/>
          </a:xfrm>
          <a:prstGeom prst="rect">
            <a:avLst/>
          </a:prstGeom>
          <a:solidFill>
            <a:srgbClr val="A5F3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467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(resumen en vector)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3822192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59352"/>
            <a:ext cx="4389120" cy="475488"/>
          </a:xfrm>
          <a:prstGeom prst="rect">
            <a:avLst/>
          </a:prstGeom>
          <a:solidFill>
            <a:srgbClr val="E9456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935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emociones)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La convolución es exactamente la operación estudiada en clase:</a:t>
            </a:r>
            <a:endParaRPr lang="en-US" sz="95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 * g)[m,n] = Σ f[k,l] · g[m−k, n−l]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960120"/>
            <a:ext cx="33832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MiniEmotionNet (propia)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bloques convolucionales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parámetros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48×48 px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788920"/>
            <a:ext cx="338328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(Transfer Learning)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 en 1M imágenes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Adaptada a nuestro problema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 parámetros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4617720"/>
            <a:ext cx="3383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Optimizador: AdamW  ·  Early Stopping  ·  LR: Cosine Annealing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 — XGBoost sobre Features de la CNN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4630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48×48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73736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05840"/>
            <a:ext cx="14630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sin 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capa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73736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005840"/>
            <a:ext cx="14630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256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173736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005840"/>
            <a:ext cx="14630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 árboles)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173736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005840"/>
            <a:ext cx="146304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0" y="1645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841248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 clave: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la CNN como un "traductor". En lugar de que clasifique directamente, le sacamos su representación interna del rostro (un vector de 256 números) y la pasamos a XGBoost.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02336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657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RFECV — Selección de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iterativamente las features menos importantes hasta encontrar el subconjunto mínimo que mantiene la misma precisión.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566160"/>
            <a:ext cx="411480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Resultado: 3 modelos XGBoost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023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features CNN (256 dims)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features ResNet (512 dims)
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features seleccionadas (RFECV)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— Curvas ROC y AUC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029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960120"/>
            <a:ext cx="333756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024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AUC?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23560" y="1417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AUC (Área Bajo la Curva) mide qué tan bien el modelo separa una emoción del resto.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AUC = 1.0 → perfecto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AUC = 0.5 → adivina al azar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modelos logran AUC &gt; 0.90 en la mayoría de emociones.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2926080"/>
          <a:ext cx="3337560" cy="1828800"/>
        </p:xfrm>
        <a:graphic>
          <a:graphicData uri="http://schemas.openxmlformats.org/drawingml/2006/table">
            <a:tbl>
              <a:tblPr/>
              <a:tblGrid>
                <a:gridCol w="1417320"/>
                <a:gridCol w="594360"/>
                <a:gridCol w="64008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(MiniEmotionNet)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Transfer 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CNN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ResNet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Errores — Matriz de Confusión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120640" cy="393192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1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8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4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2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F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9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5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AB9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→  /  Predicho ↓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577840" y="914400"/>
            <a:ext cx="329184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Principales confusiones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463040"/>
            <a:ext cx="30175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Fearful → Surprised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0" y="1490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0720" y="1709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Ojos muy abiertos en ambas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0" y="1993392"/>
            <a:ext cx="30175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020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😢 Neutral → Sad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20208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60720" y="22402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Expresión facial similar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0" y="2523744"/>
            <a:ext cx="30175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2551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😠 Angry → Neutral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89520" y="25511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60720" y="27706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rasgos muy marcados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0" y="3054096"/>
            <a:ext cx="301752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081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🤢 Disgusted → Sad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89520" y="3081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760720" y="33009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con pocas muestras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669280" y="3584448"/>
            <a:ext cx="30175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3611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Happy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89520" y="36118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60720" y="38313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más fácil ✓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— ¿Cómo decide el modelo?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SHAP Values (para XGBoost)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nos dice cuánto aportó cada característica a la predicción. Valores positivos empujan hacia una emoción, negativos la alejan.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2377440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617720" y="960120"/>
            <a:ext cx="4251960" cy="3886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Grad-CAM (para la CNN)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4630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colorea las zonas del rostro que más influyeron en la decisión.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intenso = región clave.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Azul/verde = zona poco relevante.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514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😊 Happy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/ mejillas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2514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😠 Angry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Cejas / entrecejo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3657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😨 Fearful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Ojos muy abiertos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3657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😢 Sad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6656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Comisuras boca 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914400"/>
            <a:ext cx="54864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206240" cy="6400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CNN propia (MiniEmotionNet) logra resultados competitivos con ~1M de parámetros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4206240" cy="6400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470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con Transfer Learning supera en accuracy gracias al pre-entrenamiento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96896"/>
            <a:ext cx="4206240" cy="6400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9689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sobre features CNN es una alternativa interpretable con resultados similares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46704"/>
            <a:ext cx="4206240" cy="6400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4670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es la emoción más fácil (88% recall); Disgusted la más difícil (clases pequeñas)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096512"/>
            <a:ext cx="4206240" cy="64008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965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confirma que la red mira zonas correctas del rostro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77640" cy="3840480"/>
          </a:xfrm>
          <a:prstGeom prst="rect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43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Trabajo futuro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para penalizar más los errores en clases difíciles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2585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con SMOTE o generación de datos con GAN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29169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EfficientNet o Vision Transformer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35753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 video en tiempo real (webcam)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423367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imagen y audio para clasificación multimodal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4572000" cy="0"/>
          </a:xfrm>
          <a:prstGeom prst="line">
            <a:avLst/>
          </a:prstGeom>
          <a:noFill/>
          <a:ln w="12700">
            <a:solidFill>
              <a:srgbClr val="E9456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notebooks disponibles en: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github.com/u-soifer/PIYS-Clasificacion-Emociones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— Procesamiento de Imágenes y Señales ·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Emociones — PIYS UTN</dc:title>
  <dc:subject>PptxGenJS Presentation</dc:subject>
  <dc:creator>Grupo TP Final</dc:creator>
  <cp:lastModifiedBy>Grupo TP Final</cp:lastModifiedBy>
  <cp:revision>1</cp:revision>
  <dcterms:created xsi:type="dcterms:W3CDTF">2026-06-16T02:13:36Z</dcterms:created>
  <dcterms:modified xsi:type="dcterms:W3CDTF">2026-06-16T02:13:36Z</dcterms:modified>
</cp:coreProperties>
</file>